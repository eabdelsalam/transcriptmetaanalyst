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7560000" cy="10692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033c47dd34d123ca0a3c1d0f0556ea730da80be.png"/>
<Relationship Id="rId3" Type="http://schemas.openxmlformats.org/officeDocument/2006/relationships/image" Target="../media/5646089cd1a68fb55094ea7ebc5423393547c451.png"/>
<Relationship Id="rId4" Type="http://schemas.openxmlformats.org/officeDocument/2006/relationships/image" Target="../media/f888b4d312630cc415cda8cb0e00eebecb8c0f7d.png"/>
<Relationship Id="rId5" Type="http://schemas.openxmlformats.org/officeDocument/2006/relationships/image" Target="../media/be089ce02c108d5f67bd89ba6f722b1061c65001.png"/>
<Relationship Id="rId6" Type="http://schemas.openxmlformats.org/officeDocument/2006/relationships/image" Target="../media/0fd3d01cc78e272cb9bafce871f848e74f313ce4.png"/>
<Relationship Id="rId7" Type="http://schemas.openxmlformats.org/officeDocument/2006/relationships/image" Target="../media/3f94954ea926fb56b806cf076e83c6bc23b4201c.png"/>
<Relationship Id="rId8" Type="http://schemas.openxmlformats.org/officeDocument/2006/relationships/image" Target="../media/1540e6d875af54dcc76cbce4898e59d3ce1fa353.png"/>
<Relationship Id="rId9" Type="http://schemas.openxmlformats.org/officeDocument/2006/relationships/image" Target="../media/22421b162e51702080b6b4aaa359b6c693dd68e6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>
          </p:cNvSpPr>
          <p:nvPr/>
        </p:nvSpPr>
        <p:spPr>
          <a:xfrm>
            <a:off x="377999" y="365806"/>
            <a:ext cx="6803986" cy="9962109"/>
          </a:xfrm>
          <a:prstGeom prst="roundRect">
            <a:avLst>
              <a:gd name="adj" fmla="val 4500"/>
            </a:avLst>
          </a:prstGeom>
          <a:solidFill>
            <a:srgbClr val="FFFFFF">
              <a:alpha val="100000"/>
            </a:srgbClr>
          </a:solidFill>
          <a:ln w="73660" cap="rnd" cmpd="sng">
            <a:solidFill>
              <a:srgbClr val="1E7A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Title"/>
          <p:cNvSpPr>
          </p:cNvSpPr>
          <p:nvPr/>
        </p:nvSpPr>
        <p:spPr>
          <a:xfrm>
            <a:off x="670644" y="609676"/>
            <a:ext cx="6218697" cy="57919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36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TranscriptMetaAnalyst (TMA)</a:t>
            </a:r>
          </a:p>
        </p:txBody>
      </p:sp>
      <p:sp>
        <p:nvSpPr>
          <p:cNvPr id="4" name="Subtitle"/>
          <p:cNvSpPr>
          </p:cNvSpPr>
          <p:nvPr/>
        </p:nvSpPr>
        <p:spPr>
          <a:xfrm>
            <a:off x="670644" y="1219352"/>
            <a:ext cx="6218697" cy="60967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2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Democratizing Transcriptomic Meta-Analysis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2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for Robust Biological Discovery</a:t>
            </a:r>
          </a:p>
        </p:txBody>
      </p:sp>
      <p:sp>
        <p:nvSpPr>
          <p:cNvPr id="5" name="Tagline"/>
          <p:cNvSpPr>
          </p:cNvSpPr>
          <p:nvPr/>
        </p:nvSpPr>
        <p:spPr>
          <a:xfrm>
            <a:off x="914514" y="1902190"/>
            <a:ext cx="5730956" cy="457257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 user-friendly Shiny application that combines several RNA-Seq or microarray studies into one gene-level meta-analysis, from upload to interpretation.</a:t>
            </a:r>
          </a:p>
        </p:txBody>
      </p:sp>
      <p:sp>
        <p:nvSpPr>
          <p:cNvPr id="6" name="Workflow heading"/>
          <p:cNvSpPr>
          </p:cNvSpPr>
          <p:nvPr/>
        </p:nvSpPr>
        <p:spPr>
          <a:xfrm>
            <a:off x="670644" y="2450898"/>
            <a:ext cx="6218697" cy="30483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3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Simplified Workflow</a:t>
            </a:r>
          </a:p>
        </p:txBody>
      </p:sp>
      <p:sp>
        <p:nvSpPr>
          <p:cNvPr id="7" name="Step Data Input"/>
          <p:cNvSpPr>
          </p:cNvSpPr>
          <p:nvPr/>
        </p:nvSpPr>
        <p:spPr>
          <a:xfrm>
            <a:off x="774289" y="2816704"/>
            <a:ext cx="1749771" cy="1597352"/>
          </a:xfrm>
          <a:prstGeom prst="roundRect">
            <a:avLst>
              <a:gd name="adj" fmla="val 16000"/>
            </a:avLst>
          </a:prstGeom>
          <a:solidFill>
            <a:srgbClr val="D3EAC8">
              <a:alpha val="100000"/>
            </a:srgbClr>
          </a:solidFill>
        </p:spPr>
        <p:txBody>
          <a:bodyPr tIns="560902" lIns="54864" rIns="54864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4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Input</a:t>
            </a:r>
          </a:p>
          <a:p>
            <a:pPr algn="ctr" marL="0" marR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cap="none" sz="84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RNA-Seq counts or microarray files, GEO import, or built-in demo data</a:t>
            </a:r>
          </a:p>
        </p:txBody>
      </p:sp>
      <p:pic>
        <p:nvPicPr>
          <p:cNvPr id="8" name="Icon Data Input" descr="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81" y="2895962"/>
            <a:ext cx="555483" cy="499934"/>
          </a:xfrm>
          <a:prstGeom prst="rect">
            <a:avLst/>
          </a:prstGeom>
        </p:spPr>
      </p:pic>
      <p:sp>
        <p:nvSpPr>
          <p:cNvPr id="9" name="Step Automated Analysis"/>
          <p:cNvSpPr>
          </p:cNvSpPr>
          <p:nvPr/>
        </p:nvSpPr>
        <p:spPr>
          <a:xfrm>
            <a:off x="2902059" y="2816704"/>
            <a:ext cx="1749771" cy="1597352"/>
          </a:xfrm>
          <a:prstGeom prst="roundRect">
            <a:avLst>
              <a:gd name="adj" fmla="val 16000"/>
            </a:avLst>
          </a:prstGeom>
          <a:solidFill>
            <a:srgbClr val="D3EAC8">
              <a:alpha val="100000"/>
            </a:srgbClr>
          </a:solidFill>
        </p:spPr>
        <p:txBody>
          <a:bodyPr tIns="560902" lIns="54864" rIns="54864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4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Automated Analysis</a:t>
            </a:r>
          </a:p>
          <a:p>
            <a:pPr algn="ctr" marL="0" marR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cap="none" sz="84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DESeq2, edgeR or limma; Fisher or inverse-normal; batch handling</a:t>
            </a:r>
          </a:p>
        </p:txBody>
      </p:sp>
      <p:pic>
        <p:nvPicPr>
          <p:cNvPr id="10" name="Icon Automated Analysis" descr="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251" y="2895962"/>
            <a:ext cx="555483" cy="499934"/>
          </a:xfrm>
          <a:prstGeom prst="rect">
            <a:avLst/>
          </a:prstGeom>
        </p:spPr>
      </p:pic>
      <p:sp>
        <p:nvSpPr>
          <p:cNvPr id="11" name="Step Visual Insights"/>
          <p:cNvSpPr>
          </p:cNvSpPr>
          <p:nvPr/>
        </p:nvSpPr>
        <p:spPr>
          <a:xfrm>
            <a:off x="5035925" y="2816704"/>
            <a:ext cx="1749771" cy="1597352"/>
          </a:xfrm>
          <a:prstGeom prst="roundRect">
            <a:avLst>
              <a:gd name="adj" fmla="val 16000"/>
            </a:avLst>
          </a:prstGeom>
          <a:solidFill>
            <a:srgbClr val="D3EAC8">
              <a:alpha val="100000"/>
            </a:srgbClr>
          </a:solidFill>
        </p:spPr>
        <p:txBody>
          <a:bodyPr tIns="560902" lIns="54864" rIns="54864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4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Visual Insights</a:t>
            </a:r>
          </a:p>
          <a:p>
            <a:pPr algn="ctr" marL="0" marR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cap="none" sz="84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Interactive plots and tables, plus a reproducible R script</a:t>
            </a:r>
          </a:p>
        </p:txBody>
      </p:sp>
      <p:pic>
        <p:nvPicPr>
          <p:cNvPr id="12" name="Icon Visual Insights" descr=""/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118" y="2895962"/>
            <a:ext cx="555483" cy="499934"/>
          </a:xfrm>
          <a:prstGeom prst="rect">
            <a:avLst/>
          </a:prstGeom>
        </p:spPr>
      </p:pic>
      <p:sp>
        <p:nvSpPr>
          <p:cNvPr id="13" name="Arrow"/>
          <p:cNvSpPr>
          </p:cNvSpPr>
          <p:nvPr/>
        </p:nvSpPr>
        <p:spPr>
          <a:xfrm>
            <a:off x="2554543" y="3511735"/>
            <a:ext cx="304838" cy="158516"/>
          </a:xfrm>
          <a:prstGeom prst="rightArrow">
            <a:avLst/>
          </a:prstGeom>
          <a:solidFill>
            <a:srgbClr val="7FA877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Arrow"/>
          <p:cNvSpPr>
          </p:cNvSpPr>
          <p:nvPr/>
        </p:nvSpPr>
        <p:spPr>
          <a:xfrm>
            <a:off x="4688410" y="3511735"/>
            <a:ext cx="304838" cy="158516"/>
          </a:xfrm>
          <a:prstGeom prst="rightArrow">
            <a:avLst/>
          </a:prstGeom>
          <a:solidFill>
            <a:srgbClr val="7FA877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Capabilities heading"/>
          <p:cNvSpPr>
          </p:cNvSpPr>
          <p:nvPr/>
        </p:nvSpPr>
        <p:spPr>
          <a:xfrm>
            <a:off x="670644" y="4523797"/>
            <a:ext cx="6218697" cy="30483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3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Core Capabilities</a:t>
            </a:r>
          </a:p>
        </p:txBody>
      </p:sp>
      <p:sp>
        <p:nvSpPr>
          <p:cNvPr id="16" name="Card Robust DEGs"/>
          <p:cNvSpPr>
          </p:cNvSpPr>
          <p:nvPr/>
        </p:nvSpPr>
        <p:spPr>
          <a:xfrm>
            <a:off x="780386" y="4895700"/>
            <a:ext cx="1969254" cy="3255671"/>
          </a:xfrm>
          <a:prstGeom prst="roundRect">
            <a:avLst>
              <a:gd name="adj" fmla="val 11000"/>
            </a:avLst>
          </a:prstGeom>
          <a:ln w="17780" cap="rnd" cmpd="sng">
            <a:solidFill>
              <a:srgbClr val="8FC47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40" rIns="91440" tIns="91440"/>
          <a:lstStyle/>
          <a:p>
            <a:pPr algn="ctr" marL="0" marR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cap="none" sz="144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Robust DEGs</a:t>
            </a:r>
          </a:p>
          <a:p>
            <a:pPr algn="ctr" marL="0" marR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cap="none" sz="96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Find genes that change consistently across studies, for every condition versus a reference, with batch effects checked and handled.</a:t>
            </a:r>
          </a:p>
        </p:txBody>
      </p:sp>
      <p:sp>
        <p:nvSpPr>
          <p:cNvPr id="17" name="Card Comprehensive Visualizations"/>
          <p:cNvSpPr>
          </p:cNvSpPr>
          <p:nvPr/>
        </p:nvSpPr>
        <p:spPr>
          <a:xfrm>
            <a:off x="2798414" y="4895700"/>
            <a:ext cx="1969254" cy="3255671"/>
          </a:xfrm>
          <a:prstGeom prst="roundRect">
            <a:avLst>
              <a:gd name="adj" fmla="val 11000"/>
            </a:avLst>
          </a:prstGeom>
          <a:ln w="17780" cap="rnd" cmpd="sng">
            <a:solidFill>
              <a:srgbClr val="8FC47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40" rIns="91440" tIns="91440"/>
          <a:lstStyle/>
          <a:p>
            <a:pPr algn="ctr" marL="0" marR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cap="none" sz="144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Comprehensive Visualizations</a:t>
            </a:r>
          </a:p>
          <a:p>
            <a:pPr algn="ctr" marL="0" marR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cap="none" sz="96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Publication-ready volcano plots, heatmaps, PCA, Venn and UpSet diagrams, in PDF, PNG or TIFF.</a:t>
            </a:r>
          </a:p>
        </p:txBody>
      </p:sp>
      <p:sp>
        <p:nvSpPr>
          <p:cNvPr id="18" name="Card Functional Insights"/>
          <p:cNvSpPr>
          </p:cNvSpPr>
          <p:nvPr/>
        </p:nvSpPr>
        <p:spPr>
          <a:xfrm>
            <a:off x="4810345" y="4895700"/>
            <a:ext cx="1969254" cy="3255671"/>
          </a:xfrm>
          <a:prstGeom prst="roundRect">
            <a:avLst>
              <a:gd name="adj" fmla="val 11000"/>
            </a:avLst>
          </a:prstGeom>
          <a:ln w="17780" cap="rnd" cmpd="sng">
            <a:solidFill>
              <a:srgbClr val="8FC47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40" rIns="91440" tIns="91440"/>
          <a:lstStyle/>
          <a:p>
            <a:pPr algn="ctr" marL="0" marR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cap="none" sz="144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Functional Insights</a:t>
            </a:r>
          </a:p>
          <a:p>
            <a:pPr algn="ctr" marL="0" marR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cap="none" sz="96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GO (PANTHER), KEGG and STRING enrichment of the DEGs against all tested genes, with an ID-mapping report.</a:t>
            </a:r>
          </a:p>
        </p:txBody>
      </p:sp>
      <p:pic>
        <p:nvPicPr>
          <p:cNvPr id="19" name="Venn diagram" descr=""/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966" y="6462568"/>
            <a:ext cx="1524190" cy="1524190"/>
          </a:xfrm>
          <a:prstGeom prst="rect">
            <a:avLst/>
          </a:prstGeom>
        </p:spPr>
      </p:pic>
      <p:pic>
        <p:nvPicPr>
          <p:cNvPr id="20" name="Heatmap" descr=""/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2059" y="6545309"/>
            <a:ext cx="780386" cy="1114836"/>
          </a:xfrm>
          <a:prstGeom prst="rect">
            <a:avLst/>
          </a:prstGeom>
        </p:spPr>
      </p:pic>
      <p:pic>
        <p:nvPicPr>
          <p:cNvPr id="21" name="Volcano plot" descr=""/>
          <p:cNvPicPr>
            <a:picLocks noGr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9025" y="6256362"/>
            <a:ext cx="963288" cy="656282"/>
          </a:xfrm>
          <a:prstGeom prst="rect">
            <a:avLst/>
          </a:prstGeom>
        </p:spPr>
      </p:pic>
      <p:pic>
        <p:nvPicPr>
          <p:cNvPr id="22" name="UpSet plot" descr=""/>
          <p:cNvPicPr>
            <a:picLocks noGr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9025" y="7136260"/>
            <a:ext cx="963288" cy="481644"/>
          </a:xfrm>
          <a:prstGeom prst="rect">
            <a:avLst/>
          </a:prstGeom>
        </p:spPr>
      </p:pic>
      <p:pic>
        <p:nvPicPr>
          <p:cNvPr id="23" name="STRING lollipop" descr=""/>
          <p:cNvPicPr>
            <a:picLocks noGr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7893" y="6541503"/>
            <a:ext cx="1780255" cy="1305352"/>
          </a:xfrm>
          <a:prstGeom prst="rect">
            <a:avLst/>
          </a:prstGeom>
        </p:spPr>
      </p:pic>
      <p:sp>
        <p:nvSpPr>
          <p:cNvPr id="24" name="New heading"/>
          <p:cNvSpPr>
          </p:cNvSpPr>
          <p:nvPr/>
        </p:nvSpPr>
        <p:spPr>
          <a:xfrm>
            <a:off x="670644" y="8218435"/>
            <a:ext cx="6218697" cy="30483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3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New in this Version</a:t>
            </a:r>
          </a:p>
        </p:txBody>
      </p:sp>
      <p:sp>
        <p:nvSpPr>
          <p:cNvPr id="25" name="Chip Microarray meta-analysis"/>
          <p:cNvSpPr>
          </p:cNvSpPr>
          <p:nvPr/>
        </p:nvSpPr>
        <p:spPr>
          <a:xfrm>
            <a:off x="1189478" y="8584241"/>
            <a:ext cx="1551016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Microarray meta-analysis</a:t>
            </a:r>
          </a:p>
        </p:txBody>
      </p:sp>
      <p:sp>
        <p:nvSpPr>
          <p:cNvPr id="26" name="Chip GEO import"/>
          <p:cNvSpPr>
          </p:cNvSpPr>
          <p:nvPr/>
        </p:nvSpPr>
        <p:spPr>
          <a:xfrm>
            <a:off x="2801462" y="8584241"/>
            <a:ext cx="816966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GEO import</a:t>
            </a:r>
          </a:p>
        </p:txBody>
      </p:sp>
      <p:sp>
        <p:nvSpPr>
          <p:cNvPr id="27" name="Chip edgeR and limma-voom"/>
          <p:cNvSpPr>
          </p:cNvSpPr>
          <p:nvPr/>
        </p:nvSpPr>
        <p:spPr>
          <a:xfrm>
            <a:off x="3679396" y="8584241"/>
            <a:ext cx="1236423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edgeR &amp; limma-voom</a:t>
            </a:r>
          </a:p>
        </p:txBody>
      </p:sp>
      <p:sp>
        <p:nvSpPr>
          <p:cNvPr id="28" name="Chip Inverse-normal method"/>
          <p:cNvSpPr>
          </p:cNvSpPr>
          <p:nvPr/>
        </p:nvSpPr>
        <p:spPr>
          <a:xfrm>
            <a:off x="4976787" y="8584241"/>
            <a:ext cx="1393720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Inverse-normal method</a:t>
            </a:r>
          </a:p>
        </p:txBody>
      </p:sp>
      <p:sp>
        <p:nvSpPr>
          <p:cNvPr id="29" name="Chip Batch-effect check and correction"/>
          <p:cNvSpPr>
          </p:cNvSpPr>
          <p:nvPr/>
        </p:nvSpPr>
        <p:spPr>
          <a:xfrm>
            <a:off x="796237" y="8828111"/>
            <a:ext cx="1918041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Batch-effect check &amp; correction</a:t>
            </a:r>
          </a:p>
        </p:txBody>
      </p:sp>
      <p:sp>
        <p:nvSpPr>
          <p:cNvPr id="30" name="Chip Multiple conditions"/>
          <p:cNvSpPr>
          </p:cNvSpPr>
          <p:nvPr/>
        </p:nvSpPr>
        <p:spPr>
          <a:xfrm>
            <a:off x="2775246" y="8828111"/>
            <a:ext cx="1288855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Multiple conditions</a:t>
            </a:r>
          </a:p>
        </p:txBody>
      </p:sp>
      <p:sp>
        <p:nvSpPr>
          <p:cNvPr id="31" name="Chip STRING enrichment"/>
          <p:cNvSpPr>
          </p:cNvSpPr>
          <p:nvPr/>
        </p:nvSpPr>
        <p:spPr>
          <a:xfrm>
            <a:off x="4125069" y="8828111"/>
            <a:ext cx="1183991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STRING enrichment</a:t>
            </a:r>
          </a:p>
        </p:txBody>
      </p:sp>
      <p:sp>
        <p:nvSpPr>
          <p:cNvPr id="32" name="Chip Reproducible R script"/>
          <p:cNvSpPr>
          </p:cNvSpPr>
          <p:nvPr/>
        </p:nvSpPr>
        <p:spPr>
          <a:xfrm>
            <a:off x="5370028" y="8828111"/>
            <a:ext cx="1393720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Reproducible R script</a:t>
            </a:r>
          </a:p>
        </p:txBody>
      </p:sp>
      <p:sp>
        <p:nvSpPr>
          <p:cNvPr id="33" name="Chip Methods Guide"/>
          <p:cNvSpPr>
          </p:cNvSpPr>
          <p:nvPr/>
        </p:nvSpPr>
        <p:spPr>
          <a:xfrm>
            <a:off x="3292861" y="9071982"/>
            <a:ext cx="974263" cy="195096"/>
          </a:xfrm>
          <a:prstGeom prst="roundRect">
            <a:avLst>
              <a:gd name="adj" fmla="val 50000"/>
            </a:avLst>
          </a:prstGeom>
          <a:solidFill>
            <a:srgbClr val="D3EAC8">
              <a:alpha val="100000"/>
            </a:srgbClr>
          </a:solidFill>
        </p:spPr>
        <p:txBody>
          <a:bodyPr wrap="none" anchor="ctr" tIns="0" bIns="0" lIns="45720" rIns="45720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20" i="0" b="1" u="none" strike="noStrike">
                <a:solidFill>
                  <a:srgbClr val="1B512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Methods Guide</a:t>
            </a:r>
          </a:p>
        </p:txBody>
      </p:sp>
      <p:sp>
        <p:nvSpPr>
          <p:cNvPr id="34" name="Footer rule"/>
          <p:cNvSpPr>
          </p:cNvSpPr>
          <p:nvPr/>
        </p:nvSpPr>
        <p:spPr>
          <a:xfrm>
            <a:off x="780386" y="9389013"/>
            <a:ext cx="5999214" cy="18290"/>
          </a:xfrm>
          <a:solidFill>
            <a:srgbClr val="D3EAC8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Footer"/>
          <p:cNvSpPr>
          </p:cNvSpPr>
          <p:nvPr/>
        </p:nvSpPr>
        <p:spPr>
          <a:xfrm>
            <a:off x="670644" y="9437788"/>
            <a:ext cx="6218697" cy="731611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30" i="0" b="1" u="none" strike="noStrike">
                <a:solidFill>
                  <a:srgbClr val="27873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Accessible. Powerful. Reproducible.</a:t>
            </a:r>
          </a:p>
          <a:p>
            <a:pPr algn="ctr" marL="0" marR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1D1D1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Explore TranscriptMetaAnalyst (TMA) today!</a:t>
            </a:r>
          </a:p>
          <a:p>
            <a:pPr algn="ctr" marL="0" marR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cap="none" sz="910" i="0" b="0" u="none" strike="noStrike">
                <a:solidFill>
                  <a:srgbClr val="9A9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Source code available on GitHub @Eabdelsalam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eslam</cp:lastModifiedBy>
  <cp:revision>3</cp:revision>
  <dcterms:created xsi:type="dcterms:W3CDTF">2017-02-13T16:18:36Z</dcterms:created>
  <dcterms:modified xsi:type="dcterms:W3CDTF">2026-10-21T18:07:01Z</dcterms:modified>
  <cp:category/>
</cp:coreProperties>
</file>